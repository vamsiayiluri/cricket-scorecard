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3" d="100"/>
          <a:sy n="123" d="100"/>
        </p:scale>
        <p:origin x="298" y="-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909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judges, technical reviewers, and stakeholders. Introduce CricVelo as a smart cricket scoring and tournament management platform built for clubs, corporates, and community cricket. Set the tone: modern, product-grade, built with engineering rigor.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pain points in local and corporate cricket today. Each of these six problems maps directly to a CricVelo feature we'll show later. Emphasize fragmentation: scoring, team data, and tournament data all live in disconnected tools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is the near-term product promise: simplify scoring and operations. Vision is the long-term ambition: a complete ecosystem connecting every stakeholder in the cricket-playing community, not just a scoring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CricVelo sits at the center of seven interconnected capabilities. Walk through each briefly: live scoring is the real-time engine, team and player management form the data foundation, tournaments orchestrate multi-match events, statistics derive insight, public viewing extends reach to fans, and AuctionArena integration closes the loop from player auction to team 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CricVelo follows a layered architecture. React handles the frontend experience. Firebase Authentication secures every session. Firestore provides our real-time database, so score updates propagate instantly to all connected viewers. Analytics and Sentry-based monitoring close the loop on observability and product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cover the full spectrum of platform usage. Viewers are read-only consumers of public data. Scorers operate the live scoring engine during a match. Tournament Organizers have the highest level of control, managing the competition structure itself, including auction-driven imports.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match in CricVelo moves through six well-defined stages. This structure ensures data integrity at every step — a match can't reach a public scorecard without passing through proper setup, live scoring, and completion. This is the backbone of our ownership and audit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heart of CricVelo. Every ball bowled is captured with full context — runs, extras, wicket details, free-hit state. The ball timeline and fall-of-wickets give a complete forensic history of the innings, and partnership tracking adds tactical insight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and players are first-class, reusable entities. Once a team or player profile is created, it can be reused across any number of tournaments and matches — eliminating repetitive data entry and keeping historical stats tied to a single player identity.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ball recorded during live scoring rolls up automatically into player statistics — runs, strike rate, batting average, wickets, and bowling economy. Players get a persistent profile that compounds value the more they 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tournament platform orchestrates everything above the level of a single match: creation and rules, team assignment, fixture scheduling, live standings, and tournament-wide statistics and leaderboards.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CricVelo extends beyond the players on the field. Anyone can discover matches, view full public scorecards and tournament pages without an account, and share a match in one tap — turning every match into a piece of shareable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AuctionArena handles the player auction process. The exported Excel sheet feeds directly into CricVelo's Import Wizard, which validates the data and creates teams, players, and team assignments automatically — eliminating manual re-entry after every auction.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CricVelo was built using an AI-assisted engineering workflow with OpenAI Codex and ChatGPT as pair-programming partners. Our process was disciplined, not ad hoc: a discovery phase to scope each feature, structured architecture reviews, audit-driven development to catch regressions, dedicated stabilization sprints, and a final production-readiness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figures quantify the impact of our AI-assisted workflow: 48 features shipped, 210+ files created, 32 audits performed to maintain quality, 27 structured reports generated for tracking, and an estimated 65% reduction in development time versus a traditional workflow. Note these are illustrative figures pending final confirmation from project 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enforced at multiple layers: Firebase authentication establishes identity, role-based authorization controls actions, and a strict match-ownership model determines who can score a given match. Firestore security rules enforce this server-side, while Sentry and analytics give us real-time visibility into errors and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Stepping back, CricVelo has shipped seven complete, interconnected systems. This isn't a prototype with one flashy feature — it's an end-to-end product covering the full lifecycle from scoring a ball to a fan viewing the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build is without friction. The hardest problems were around data integrity over time — scorecard persistence and ownership — and around reconciling external, human-generated data via the import pipeline. Mobile UX for live scoring was an ongoing refinement as real scorers used the app matchside.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ahead, our roadmap focuses on three themes: tournament depth (knockouts, NRR), resilience (offline scoring, PWA), and engagement (push notifications, advanced analytics). These build directly on the foundation we've shipped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judges, reviewers, and stakeholders for their time. Invite questions and point to the contact details, GitHub repository, and live demo link for follow-up.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4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4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5.png"/><Relationship Id="rId4" Type="http://schemas.openxmlformats.org/officeDocument/2006/relationships/image" Target="../media/image30.png"/><Relationship Id="rId9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0.png"/><Relationship Id="rId4" Type="http://schemas.openxmlformats.org/officeDocument/2006/relationships/image" Target="../media/image14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3" Type="http://schemas.openxmlformats.org/officeDocument/2006/relationships/image" Target="../media/image4.png"/><Relationship Id="rId7" Type="http://schemas.openxmlformats.org/officeDocument/2006/relationships/image" Target="../media/image4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4.png"/><Relationship Id="rId5" Type="http://schemas.openxmlformats.org/officeDocument/2006/relationships/image" Target="../media/image40.png"/><Relationship Id="rId10" Type="http://schemas.openxmlformats.org/officeDocument/2006/relationships/image" Target="../media/image15.png"/><Relationship Id="rId4" Type="http://schemas.openxmlformats.org/officeDocument/2006/relationships/image" Target="../media/image25.png"/><Relationship Id="rId9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9.png"/><Relationship Id="rId4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48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53.png"/><Relationship Id="rId10" Type="http://schemas.openxmlformats.org/officeDocument/2006/relationships/image" Target="../media/image28.png"/><Relationship Id="rId4" Type="http://schemas.openxmlformats.org/officeDocument/2006/relationships/image" Target="../media/image52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4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Relationship Id="rId9" Type="http://schemas.openxmlformats.org/officeDocument/2006/relationships/image" Target="../media/image6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4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4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2.png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4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34.png"/><Relationship Id="rId4" Type="http://schemas.openxmlformats.org/officeDocument/2006/relationships/image" Target="../media/image15.png"/><Relationship Id="rId9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livesco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457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CRICVELO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1737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CricVelo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640080" y="27889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Cricket Scoring &amp; Tournament Management Platform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416052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9B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Vamsi Ayiluri, Sampath Goteti, Priya Kommula</a:t>
            </a:r>
            <a:endParaRPr lang="en-US" sz="12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C7EEC01-EC01-72D7-F68D-32B04BBCB0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57200"/>
            <a:ext cx="502919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Cricket Operations Are Still Stuck on Paper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manual_pur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11" y="1578803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842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Score Tracking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2951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Pen-and-paper scoring prone to errors and delays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63824" y="132588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46704" y="14904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noupdate_pur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035" y="1578803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46704" y="19842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Updates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46704" y="22951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Spectators and teams lack real-time match visibility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70448" y="132588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53328" y="14904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nocentral_purp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659" y="1578803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53328" y="19842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Management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053328" y="22951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 run on spreadsheets and group chats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080" y="32278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nostats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11" y="3316163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721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Player Statistics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40325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history of form, performance, or progress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63824" y="306324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346704" y="32278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visibility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5035" y="3316163"/>
            <a:ext cx="243962" cy="243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46704" y="3721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Match Visibility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46704" y="40325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easy way to discover or follow ongoing matches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870448" y="306324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053328" y="32278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nointegration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1659" y="3316163"/>
            <a:ext cx="243962" cy="2439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53328" y="3721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Auction Integration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053328" y="40325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auctions disconnected from team setup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Problem Statement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 &amp; 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miss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54" y="1989734"/>
            <a:ext cx="318211" cy="3182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Simplify cricket scoring and tournament operations for every team, club, and organizer.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4663440" y="155448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83480" y="18745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vision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8694" y="1989734"/>
            <a:ext cx="318211" cy="3182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83480" y="2971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 the complete cricket ecosystem for players, scorers, organizers, and viewers.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Mission &amp; Vision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CricVelo?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connecting every part of the cricket matchday — from live scoring to tournament management to public viewing.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37360" y="2743200"/>
            <a:ext cx="1005840" cy="1005840"/>
          </a:xfrm>
          <a:prstGeom prst="ellipse">
            <a:avLst/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737360" y="308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CricVelo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40280" y="2783434"/>
            <a:ext cx="0" cy="0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 flipV="1">
            <a:off x="2667681" y="2762326"/>
            <a:ext cx="618636" cy="211725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28261" y="3358054"/>
            <a:ext cx="887238" cy="203516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44836" y="3668805"/>
            <a:ext cx="371920" cy="768518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 flipH="1">
            <a:off x="1792261" y="3670055"/>
            <a:ext cx="167167" cy="503063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45000" y="3326465"/>
            <a:ext cx="0" cy="146081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43974" y="2961262"/>
            <a:ext cx="0" cy="0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911096" y="161300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assets/livesco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770" y="1744675"/>
            <a:ext cx="395021" cy="395021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027959" y="2114154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assets/teammgm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9633" y="2245827"/>
            <a:ext cx="395021" cy="395021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286316" y="3232386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assets/playermgm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7989" y="3364060"/>
            <a:ext cx="395021" cy="395021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487572" y="4108139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tournamentmgm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9246" y="4239813"/>
            <a:ext cx="395021" cy="395021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1245705" y="406824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4" descr="assets/stat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7378" y="4199915"/>
            <a:ext cx="395021" cy="395021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515308" y="3143362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assets/publicview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982" y="3275035"/>
            <a:ext cx="395021" cy="395021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94233" y="2114154"/>
            <a:ext cx="658368" cy="65836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assets/auction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906" y="2245827"/>
            <a:ext cx="395021" cy="395021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5074920" y="1691640"/>
            <a:ext cx="3611880" cy="3200400"/>
          </a:xfrm>
          <a:prstGeom prst="roundRect">
            <a:avLst>
              <a:gd name="adj" fmla="val 2857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0"/>
          <p:cNvSpPr/>
          <p:nvPr/>
        </p:nvSpPr>
        <p:spPr>
          <a:xfrm>
            <a:off x="53492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349240" y="2148840"/>
            <a:ext cx="31089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Management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Management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Viewing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 Integration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Product Overview</a:t>
            </a:r>
            <a:endParaRPr lang="en-US" sz="900" dirty="0"/>
          </a:p>
        </p:txBody>
      </p:sp>
      <p:sp>
        <p:nvSpPr>
          <p:cNvPr id="32" name="Text 2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65E0A17B-256F-6C86-A2C4-DBA0D8366553}"/>
              </a:ext>
            </a:extLst>
          </p:cNvPr>
          <p:cNvSpPr/>
          <p:nvPr/>
        </p:nvSpPr>
        <p:spPr>
          <a:xfrm flipV="1">
            <a:off x="2144804" y="2237796"/>
            <a:ext cx="95476" cy="511267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6">
            <a:extLst>
              <a:ext uri="{FF2B5EF4-FFF2-40B4-BE49-F238E27FC236}">
                <a16:creationId xmlns:a16="http://schemas.microsoft.com/office/drawing/2014/main" id="{9B5E4887-8F77-7409-B243-2C8E3FEFFA8A}"/>
              </a:ext>
            </a:extLst>
          </p:cNvPr>
          <p:cNvSpPr/>
          <p:nvPr/>
        </p:nvSpPr>
        <p:spPr>
          <a:xfrm>
            <a:off x="1412120" y="2631864"/>
            <a:ext cx="547309" cy="204665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40B5FF83-9C81-7642-F765-D0D3DD187DF7}"/>
              </a:ext>
            </a:extLst>
          </p:cNvPr>
          <p:cNvSpPr/>
          <p:nvPr/>
        </p:nvSpPr>
        <p:spPr>
          <a:xfrm>
            <a:off x="1173677" y="3373738"/>
            <a:ext cx="598722" cy="36974"/>
          </a:xfrm>
          <a:prstGeom prst="line">
            <a:avLst/>
          </a:prstGeom>
          <a:noFill/>
          <a:ln w="15875">
            <a:solidFill>
              <a:srgbClr val="C7C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32588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43584" y="1399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frontend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9596" y="1495044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380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874520" y="164592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client, component-driven UI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0" y="1929384"/>
            <a:ext cx="0" cy="12801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097280" y="205740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2E2A6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243584" y="21305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assets/auth_indi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9596" y="2226564"/>
            <a:ext cx="265176" cy="2651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1122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874520" y="23774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identity &amp; session management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0" y="2660904"/>
            <a:ext cx="0" cy="12801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1097280" y="278892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1243584" y="286207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assets/dbase_indi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39596" y="2958084"/>
            <a:ext cx="265176" cy="26517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28437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Database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874520" y="310896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NoSQL data layer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0" y="3392424"/>
            <a:ext cx="0" cy="12801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1097280" y="352044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3B82F6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1243584" y="359359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assets/analytics_indi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9596" y="3689604"/>
            <a:ext cx="265176" cy="26517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74520" y="35753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874520" y="384048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and engagement tracking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572000" y="4123944"/>
            <a:ext cx="0" cy="128016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1097280" y="4251960"/>
            <a:ext cx="6949440" cy="603504"/>
          </a:xfrm>
          <a:prstGeom prst="roundRect">
            <a:avLst>
              <a:gd name="adj" fmla="val 12121"/>
            </a:avLst>
          </a:prstGeom>
          <a:solidFill>
            <a:srgbClr val="5B5FC7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243584" y="43251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assets/monitor_indi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9596" y="4421124"/>
            <a:ext cx="265176" cy="2651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874520" y="430682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(Sentry)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1874520" y="457200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tracking &amp; observability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System Architecture</a:t>
            </a:r>
            <a:endParaRPr lang="en-US" sz="900" dirty="0"/>
          </a:p>
        </p:txBody>
      </p:sp>
      <p:sp>
        <p:nvSpPr>
          <p:cNvPr id="34" name="Text 2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 &amp; Permissions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733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view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" y="1788566"/>
            <a:ext cx="318211" cy="3182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278892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live &amp; past matches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public scorecards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tournaments &amp; standings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89934" y="1417320"/>
            <a:ext cx="3776721" cy="3246120"/>
          </a:xfrm>
          <a:prstGeom prst="roundRect">
            <a:avLst>
              <a:gd name="adj" fmla="val 3509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818535" y="1673352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scor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3749" y="1788566"/>
            <a:ext cx="318211" cy="3182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6378" y="2331720"/>
            <a:ext cx="350830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 Organizer</a:t>
            </a:r>
            <a:r>
              <a:rPr lang="en-US" sz="1600" dirty="0"/>
              <a:t> </a:t>
            </a:r>
            <a:r>
              <a:rPr lang="en-US" sz="16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Scorer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818534" y="2788920"/>
            <a:ext cx="337394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&amp; configure tournaments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teams and fixtures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imports from </a:t>
            </a:r>
            <a:r>
              <a:rPr lang="en-US" sz="1150" dirty="0" err="1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balls, runs &amp; wickets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live match state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team line-ups for a match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User Roles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Lifecycle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2674620"/>
            <a:ext cx="713232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crea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79" y="246087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6696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3227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Match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24912" y="2674620"/>
            <a:ext cx="713232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1947672" y="22860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setu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22551" y="246087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87168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719072" y="3227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Setup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215384" y="2674620"/>
            <a:ext cx="713232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3438144" y="22860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liv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3023" y="2460879"/>
            <a:ext cx="427482" cy="4274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3209544" y="3227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705856" y="2674620"/>
            <a:ext cx="713232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928616" y="22860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endinning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03495" y="2460879"/>
            <a:ext cx="427482" cy="42748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68112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4700016" y="3227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Innings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196328" y="2674620"/>
            <a:ext cx="713232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419088" y="22860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complet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3967" y="2460879"/>
            <a:ext cx="427482" cy="42748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58584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190488" y="3227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Completion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09560" y="2286000"/>
            <a:ext cx="777240" cy="77724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assets/scorecar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4439" y="2460879"/>
            <a:ext cx="427482" cy="42748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49056" y="21396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7680960" y="3227832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Scorecard</a:t>
            </a:r>
            <a:endParaRPr lang="en-US" sz="1100" dirty="0"/>
          </a:p>
        </p:txBody>
      </p:sp>
      <p:sp>
        <p:nvSpPr>
          <p:cNvPr id="33" name="Text 25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progresses through a structured, auditable lifecycle — from creation to a permanent public scorecard.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Match Lifecycle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Scoring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444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run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54533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0116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1792" y="232257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Ball-by-ball run entry with instant total updates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569464" y="1280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34056" y="1444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extra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154533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34056" y="20116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2734056" y="232257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Wides, no-balls, byes, and leg-byes tracked separately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681728" y="1280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846320" y="1444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wicket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15453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46320" y="20116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846320" y="232257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Dismissal type, fielder, and bowler captured per wicket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793992" y="128016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958584" y="14447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freehi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68" y="15453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58584" y="201168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Hit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958584" y="232257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free-hit state after a no-ball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57200" y="301752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621792" y="31821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timeli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" y="328269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21792" y="37490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Timeline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21792" y="405993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over-by-over, ball-by-ball history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2569464" y="301752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2734056" y="31821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fow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34640" y="328269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734056" y="37490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of Wickets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2734056" y="405993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over at each dismissal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4681728" y="301752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4846320" y="31821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assets/partnership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6904" y="3282696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846320" y="3749040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4846320" y="4059936"/>
            <a:ext cx="16642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partnership totals between batters</a:t>
            </a:r>
            <a:endParaRPr lang="en-US" sz="950" dirty="0"/>
          </a:p>
        </p:txBody>
      </p:sp>
      <p:sp>
        <p:nvSpPr>
          <p:cNvPr id="39" name="Text 3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Live Scoring Engine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Player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createtea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24" y="177064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18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Teams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1732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teams with logos, colors, and rosters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892040" y="16459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createplay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6764" y="177064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23560" y="1618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Players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623560" y="20116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profiles with role, batting &amp; bowling style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85800" y="34747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captai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524" y="359944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Captain / WK Management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1732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captain and wicketkeeper per match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2461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4892040" y="3474720"/>
            <a:ext cx="566928" cy="566928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reus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764" y="3599444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23560" y="34472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Teams &amp; Players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623560" y="38404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roster, used across every tournament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Team &amp; Player Management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Statistics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834640" cy="3291840"/>
          </a:xfrm>
          <a:prstGeom prst="roundRect">
            <a:avLst>
              <a:gd name="adj" fmla="val 3871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71600" y="1737360"/>
            <a:ext cx="1005840" cy="10058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00200" y="196596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assets/playermgm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1993392"/>
            <a:ext cx="493776" cy="4937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Profile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2461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C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All-format career statistics, auto-updated after every match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31520" y="388620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2E2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31520" y="3886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142</a:t>
            </a:r>
            <a:r>
              <a:rPr lang="en-US" sz="1050" dirty="0">
                <a:solidFill>
                  <a:srgbClr val="C7C5E0"/>
                </a:solidFill>
              </a:rPr>
              <a:t>  matches tracked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657600" y="1417320"/>
            <a:ext cx="5029200" cy="621792"/>
          </a:xfrm>
          <a:prstGeom prst="roundRect">
            <a:avLst>
              <a:gd name="adj" fmla="val 11765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767328" y="1508760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assets/run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9500" y="1600932"/>
            <a:ext cx="254569" cy="2545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43400" y="1490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343400" y="17465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&amp; per-innings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657600" y="2093976"/>
            <a:ext cx="5029200" cy="621792"/>
          </a:xfrm>
          <a:prstGeom prst="roundRect">
            <a:avLst>
              <a:gd name="adj" fmla="val 11765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767328" y="2185416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assets/strikerat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9500" y="2277588"/>
            <a:ext cx="254569" cy="25456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43400" y="21671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Strike Rate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34340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per 100 balls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3657600" y="2770632"/>
            <a:ext cx="5029200" cy="621792"/>
          </a:xfrm>
          <a:prstGeom prst="roundRect">
            <a:avLst>
              <a:gd name="adj" fmla="val 11765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3767328" y="2862072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assets/avera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9500" y="2954244"/>
            <a:ext cx="254569" cy="25456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343400" y="2843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343400" y="30998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per dismissal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657600" y="3447288"/>
            <a:ext cx="5029200" cy="621792"/>
          </a:xfrm>
          <a:prstGeom prst="roundRect">
            <a:avLst>
              <a:gd name="adj" fmla="val 11765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3767328" y="3538728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assets/wicket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59500" y="3630900"/>
            <a:ext cx="254569" cy="254569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343400" y="3520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Wickets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343400" y="3776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wickets taken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657600" y="4123944"/>
            <a:ext cx="5029200" cy="621792"/>
          </a:xfrm>
          <a:prstGeom prst="roundRect">
            <a:avLst>
              <a:gd name="adj" fmla="val 11765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6"/>
          <p:cNvSpPr/>
          <p:nvPr/>
        </p:nvSpPr>
        <p:spPr>
          <a:xfrm>
            <a:off x="3767328" y="4215384"/>
            <a:ext cx="438912" cy="438912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5" descr="assets/economy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9500" y="4307556"/>
            <a:ext cx="254569" cy="254569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4343400" y="4197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4343400" y="4453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conceded per over</a:t>
            </a:r>
            <a:endParaRPr lang="en-US" sz="1050" dirty="0"/>
          </a:p>
        </p:txBody>
      </p:sp>
      <p:sp>
        <p:nvSpPr>
          <p:cNvPr id="37" name="Text 2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Player Statistics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Tournament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627632" cy="2834640"/>
          </a:xfrm>
          <a:prstGeom prst="roundRect">
            <a:avLst>
              <a:gd name="adj" fmla="val 5618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9556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creat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2713" y="1804797"/>
            <a:ext cx="276606" cy="27660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019556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create_indi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169" y="1797253"/>
            <a:ext cx="291694" cy="29169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23774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Creation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66928" y="29260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format, rules, and schedule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203704" y="1417320"/>
            <a:ext cx="1627632" cy="2834640"/>
          </a:xfrm>
          <a:prstGeom prst="roundRect">
            <a:avLst>
              <a:gd name="adj" fmla="val 5618"/>
            </a:avLst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2766060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assets/teammgm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9217" y="1804797"/>
            <a:ext cx="276606" cy="276606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2766060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3" descr="assets/teammgmt_indi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1673" y="1797253"/>
            <a:ext cx="291694" cy="29169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295144" y="23774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Assignment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2313432" y="29260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registered teams to the tournament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3950208" y="1417320"/>
            <a:ext cx="1627632" cy="2834640"/>
          </a:xfrm>
          <a:prstGeom prst="roundRect">
            <a:avLst>
              <a:gd name="adj" fmla="val 5618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512564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assets/fixture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5721" y="1804797"/>
            <a:ext cx="276606" cy="27660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4512564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assets/fixtures_indi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8177" y="1797253"/>
            <a:ext cx="291694" cy="29169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041648" y="23774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4059936" y="29260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or manually schedule matches</a:t>
            </a:r>
            <a:endParaRPr lang="en-US" sz="950" dirty="0"/>
          </a:p>
        </p:txBody>
      </p:sp>
      <p:sp>
        <p:nvSpPr>
          <p:cNvPr id="25" name="Shape 17"/>
          <p:cNvSpPr/>
          <p:nvPr/>
        </p:nvSpPr>
        <p:spPr>
          <a:xfrm>
            <a:off x="5696712" y="1417320"/>
            <a:ext cx="1627632" cy="2834640"/>
          </a:xfrm>
          <a:prstGeom prst="roundRect">
            <a:avLst>
              <a:gd name="adj" fmla="val 5618"/>
            </a:avLst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18"/>
          <p:cNvSpPr/>
          <p:nvPr/>
        </p:nvSpPr>
        <p:spPr>
          <a:xfrm>
            <a:off x="6259068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assets/standings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2225" y="1804797"/>
            <a:ext cx="276606" cy="276606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59068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7" descr="assets/standings_indigo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64681" y="1797253"/>
            <a:ext cx="291694" cy="291694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788152" y="23774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Standings</a:t>
            </a:r>
            <a:endParaRPr lang="en-US" sz="1200" dirty="0"/>
          </a:p>
        </p:txBody>
      </p:sp>
      <p:sp>
        <p:nvSpPr>
          <p:cNvPr id="31" name="Text 21"/>
          <p:cNvSpPr/>
          <p:nvPr/>
        </p:nvSpPr>
        <p:spPr>
          <a:xfrm>
            <a:off x="5806440" y="29260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points table, NRR-ready structure</a:t>
            </a:r>
            <a:endParaRPr lang="en-US" sz="950" dirty="0"/>
          </a:p>
        </p:txBody>
      </p:sp>
      <p:sp>
        <p:nvSpPr>
          <p:cNvPr id="32" name="Shape 22"/>
          <p:cNvSpPr/>
          <p:nvPr/>
        </p:nvSpPr>
        <p:spPr>
          <a:xfrm>
            <a:off x="7443216" y="1417320"/>
            <a:ext cx="1627632" cy="2834640"/>
          </a:xfrm>
          <a:prstGeom prst="roundRect">
            <a:avLst>
              <a:gd name="adj" fmla="val 5618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23"/>
          <p:cNvSpPr/>
          <p:nvPr/>
        </p:nvSpPr>
        <p:spPr>
          <a:xfrm>
            <a:off x="8005572" y="16916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8" descr="assets/stats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18729" y="1804797"/>
            <a:ext cx="276606" cy="276606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8005572" y="1691640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9" descr="assets/stats_indig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11185" y="1797253"/>
            <a:ext cx="291694" cy="29169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534656" y="2377440"/>
            <a:ext cx="1444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200" dirty="0"/>
          </a:p>
        </p:txBody>
      </p:sp>
      <p:sp>
        <p:nvSpPr>
          <p:cNvPr id="38" name="Text 26"/>
          <p:cNvSpPr/>
          <p:nvPr/>
        </p:nvSpPr>
        <p:spPr>
          <a:xfrm>
            <a:off x="7552944" y="2926080"/>
            <a:ext cx="14081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Tournament-wide leaderboards and records</a:t>
            </a:r>
            <a:endParaRPr lang="en-US" sz="950" dirty="0"/>
          </a:p>
        </p:txBody>
      </p:sp>
      <p:sp>
        <p:nvSpPr>
          <p:cNvPr id="39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Tournament Platform</a:t>
            </a:r>
            <a:endParaRPr lang="en-US" sz="900" dirty="0"/>
          </a:p>
        </p:txBody>
      </p:sp>
      <p:sp>
        <p:nvSpPr>
          <p:cNvPr id="40" name="Text 28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Public Experience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2423160"/>
            <a:ext cx="1524000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discov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" y="21717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Matches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" y="34472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live &amp; upcoming matches near you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810000" y="2423160"/>
            <a:ext cx="1524000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895600" y="19659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scorec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1340" y="21717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2128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Scorecards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575560" y="34472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ball-by-ball scorecard, no login needed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48400" y="2423160"/>
            <a:ext cx="1524000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334000" y="19659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standin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9740" y="217170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5968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Tournament Pages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5013960" y="34472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Standings, fixtures &amp; stats, shareable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772400" y="196596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assets/shar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8140" y="2171700"/>
            <a:ext cx="502920" cy="5029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98080" y="3063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Sharing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452360" y="3447288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sharing to social &amp; messaging apps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Discovery &amp; Public Experience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AuctionArena Integration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25880" y="1988820"/>
            <a:ext cx="1463040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auctio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653" y="1749933"/>
            <a:ext cx="477774" cy="4777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AuctionArena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0" y="1988820"/>
            <a:ext cx="1463040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788920" y="155448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excel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4373" y="1749933"/>
            <a:ext cx="477774" cy="47777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Excel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89320" y="1988820"/>
            <a:ext cx="1463040" cy="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5120640" y="155448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filesico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6093" y="1749933"/>
            <a:ext cx="477774" cy="47777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92040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ImportData Sheet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452360" y="1554480"/>
            <a:ext cx="868680" cy="868680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assets/wiz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7813" y="1749933"/>
            <a:ext cx="477774" cy="47777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23760" y="2560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Import Wizard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RESULTING IN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356616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621792" y="3685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asset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662" y="3787902"/>
            <a:ext cx="251460" cy="2514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3566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Created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3291840" y="356616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3456432" y="3685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asset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9302" y="3787902"/>
            <a:ext cx="251460" cy="2514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023360" y="3566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Created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6126480" y="356616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6291072" y="3685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asset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3942" y="3787902"/>
            <a:ext cx="251460" cy="2514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858000" y="35661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 Created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AuctionArena Integration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Development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assets/ai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170307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Codex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0" y="1600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assets/cod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6070" y="17030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91840" y="1600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353312" y="3236976"/>
            <a:ext cx="1074420" cy="0"/>
          </a:xfrm>
          <a:prstGeom prst="line">
            <a:avLst/>
          </a:prstGeom>
          <a:noFill/>
          <a:ln w="25400">
            <a:solidFill>
              <a:srgbClr val="9B9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640080" y="28803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assets/discov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557" y="3040837"/>
            <a:ext cx="392278" cy="3922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5760" y="37307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Phase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140964" y="3236976"/>
            <a:ext cx="1074420" cy="0"/>
          </a:xfrm>
          <a:prstGeom prst="line">
            <a:avLst/>
          </a:prstGeom>
          <a:noFill/>
          <a:ln w="25400">
            <a:solidFill>
              <a:srgbClr val="9B9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2427732" y="28803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3" descr="assets/audi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8209" y="3040837"/>
            <a:ext cx="392278" cy="39227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153412" y="37307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Reviews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928616" y="3236976"/>
            <a:ext cx="1074420" cy="0"/>
          </a:xfrm>
          <a:prstGeom prst="line">
            <a:avLst/>
          </a:prstGeom>
          <a:noFill/>
          <a:ln w="25400">
            <a:solidFill>
              <a:srgbClr val="9B9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4215384" y="28803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4" descr="assets/check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5861" y="3040837"/>
            <a:ext cx="392278" cy="39227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941064" y="37307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Driven Development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6716268" y="3236976"/>
            <a:ext cx="1074420" cy="0"/>
          </a:xfrm>
          <a:prstGeom prst="line">
            <a:avLst/>
          </a:prstGeom>
          <a:noFill/>
          <a:ln w="25400">
            <a:solidFill>
              <a:srgbClr val="9B9A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6003036" y="28803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5" descr="assets/stabiliz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63513" y="3040837"/>
            <a:ext cx="392278" cy="39227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728716" y="37307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Stabilization Sprints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790688" y="2880360"/>
            <a:ext cx="713232" cy="713232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6" descr="assets/pro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1165" y="3040837"/>
            <a:ext cx="392278" cy="39227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16368" y="3730752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Readiness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AI-Assisted Development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Usage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627632" cy="2651760"/>
          </a:xfrm>
          <a:prstGeom prst="roundRect">
            <a:avLst>
              <a:gd name="adj" fmla="val 5618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19556" y="171907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check_indi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169" y="1824685"/>
            <a:ext cx="291694" cy="2916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231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3063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Implemented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203704" y="1463040"/>
            <a:ext cx="1627632" cy="2651760"/>
          </a:xfrm>
          <a:prstGeom prst="roundRect">
            <a:avLst>
              <a:gd name="adj" fmla="val 5618"/>
            </a:avLst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66060" y="171907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filesicon_indi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1673" y="1824685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203704" y="24231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210+</a:t>
            </a:r>
            <a:endParaRPr lang="en-US" sz="3000" dirty="0"/>
          </a:p>
        </p:txBody>
      </p:sp>
      <p:sp>
        <p:nvSpPr>
          <p:cNvPr id="13" name="Text 9"/>
          <p:cNvSpPr/>
          <p:nvPr/>
        </p:nvSpPr>
        <p:spPr>
          <a:xfrm>
            <a:off x="2295144" y="3063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950208" y="1463040"/>
            <a:ext cx="1627632" cy="2651760"/>
          </a:xfrm>
          <a:prstGeom prst="roundRect">
            <a:avLst>
              <a:gd name="adj" fmla="val 5618"/>
            </a:avLst>
          </a:prstGeom>
          <a:solidFill>
            <a:srgbClr val="7C3AED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12564" y="171907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audit_indi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8177" y="1824685"/>
            <a:ext cx="291694" cy="2916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50208" y="24231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4041648" y="3063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Performed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696712" y="1463040"/>
            <a:ext cx="1627632" cy="2651760"/>
          </a:xfrm>
          <a:prstGeom prst="roundRect">
            <a:avLst>
              <a:gd name="adj" fmla="val 5618"/>
            </a:avLst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59068" y="171907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reporticon_indi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4681" y="1824685"/>
            <a:ext cx="291694" cy="29169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96712" y="24231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3000" dirty="0"/>
          </a:p>
        </p:txBody>
      </p:sp>
      <p:sp>
        <p:nvSpPr>
          <p:cNvPr id="23" name="Text 17"/>
          <p:cNvSpPr/>
          <p:nvPr/>
        </p:nvSpPr>
        <p:spPr>
          <a:xfrm>
            <a:off x="5788152" y="3063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Generated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443216" y="1463040"/>
            <a:ext cx="1627632" cy="2651760"/>
          </a:xfrm>
          <a:prstGeom prst="roundRect">
            <a:avLst>
              <a:gd name="adj" fmla="val 5618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005572" y="1719072"/>
            <a:ext cx="502920" cy="50292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timesaved_indi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1185" y="1824685"/>
            <a:ext cx="291694" cy="29169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43216" y="2423160"/>
            <a:ext cx="16276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000" dirty="0"/>
          </a:p>
        </p:txBody>
      </p:sp>
      <p:sp>
        <p:nvSpPr>
          <p:cNvPr id="28" name="Text 21"/>
          <p:cNvSpPr/>
          <p:nvPr/>
        </p:nvSpPr>
        <p:spPr>
          <a:xfrm>
            <a:off x="7534656" y="3063240"/>
            <a:ext cx="1444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E0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Time Saved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reflect internal development tracking across the AI-assisted build process.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AI Usage Metrics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Production Readiness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aut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11" y="1578803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842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2951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Firebase-backed identity for every user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63824" y="132588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46704" y="14904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key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035" y="1578803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46704" y="19842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46704" y="22951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across all actions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70448" y="132588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53328" y="14904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ownership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659" y="1578803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53328" y="19842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Ownership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053328" y="22951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ownership model for scoring rights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080" y="32278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rule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11" y="3316163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721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40325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Server-enforced data access policies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63824" y="306324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346704" y="32278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sentr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5035" y="3316163"/>
            <a:ext cx="243962" cy="243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46704" y="3721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Monitoring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46704" y="40325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error tracking &amp; alerting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870448" y="306324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053328" y="32278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analytic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1659" y="3316163"/>
            <a:ext cx="243962" cy="2439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53328" y="3721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053328" y="40325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usage visibility for the team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Security &amp; Production Readiness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Achievements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115568" cy="1554480"/>
          </a:xfrm>
          <a:prstGeom prst="roundRect">
            <a:avLst>
              <a:gd name="adj" fmla="val 9836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86384" y="1892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liv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1988820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2064" y="253288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Scoring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691640" y="1691640"/>
            <a:ext cx="1115568" cy="1554480"/>
          </a:xfrm>
          <a:prstGeom prst="roundRect">
            <a:avLst>
              <a:gd name="adj" fmla="val 9836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2020824" y="1892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assets/teammgm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6836" y="1988820"/>
            <a:ext cx="265176" cy="26517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46504" y="253288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926080" y="1691640"/>
            <a:ext cx="1115568" cy="1554480"/>
          </a:xfrm>
          <a:prstGeom prst="roundRect">
            <a:avLst>
              <a:gd name="adj" fmla="val 9836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3255264" y="1892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assets/playermgm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276" y="1988820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80944" y="253288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160520" y="1691640"/>
            <a:ext cx="1115568" cy="1554480"/>
          </a:xfrm>
          <a:prstGeom prst="roundRect">
            <a:avLst>
              <a:gd name="adj" fmla="val 9836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489704" y="1892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assets/stats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5716" y="1988820"/>
            <a:ext cx="265176" cy="2651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215384" y="253288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394960" y="1691640"/>
            <a:ext cx="1115568" cy="1554480"/>
          </a:xfrm>
          <a:prstGeom prst="roundRect">
            <a:avLst>
              <a:gd name="adj" fmla="val 9836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724144" y="1892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assets/tournamentmgm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0156" y="1988820"/>
            <a:ext cx="265176" cy="26517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49824" y="253288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Tournaments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629400" y="1691640"/>
            <a:ext cx="1115568" cy="1554480"/>
          </a:xfrm>
          <a:prstGeom prst="roundRect">
            <a:avLst>
              <a:gd name="adj" fmla="val 9836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8"/>
          <p:cNvSpPr/>
          <p:nvPr/>
        </p:nvSpPr>
        <p:spPr>
          <a:xfrm>
            <a:off x="6958584" y="1892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5" descr="assets/wizar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4596" y="1988820"/>
            <a:ext cx="265176" cy="265176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84264" y="253288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7863840" y="1691640"/>
            <a:ext cx="1115568" cy="1554480"/>
          </a:xfrm>
          <a:prstGeom prst="roundRect">
            <a:avLst>
              <a:gd name="adj" fmla="val 9836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1"/>
          <p:cNvSpPr/>
          <p:nvPr/>
        </p:nvSpPr>
        <p:spPr>
          <a:xfrm>
            <a:off x="8193024" y="189280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6" descr="assets/publicview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89036" y="1988820"/>
            <a:ext cx="265176" cy="265176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918704" y="2532888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Viewing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core systems shipped end-to-end — from live scoring to public viewing — forming a complete, working product.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Key Achievements</a:t>
            </a:r>
            <a:endParaRPr lang="en-US" sz="900" dirty="0"/>
          </a:p>
        </p:txBody>
      </p:sp>
      <p:sp>
        <p:nvSpPr>
          <p:cNvPr id="34" name="Text 25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RETROSPECTIVE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627632" cy="3246120"/>
          </a:xfrm>
          <a:prstGeom prst="roundRect">
            <a:avLst>
              <a:gd name="adj" fmla="val 5618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42416" y="1554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scorec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428" y="165049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240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Persistence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" y="28346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 data model that survives edits, corrections, and re-scoring without losing history.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203704" y="1325880"/>
            <a:ext cx="1627632" cy="3246120"/>
          </a:xfrm>
          <a:prstGeom prst="roundRect">
            <a:avLst>
              <a:gd name="adj" fmla="val 5618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788920" y="1554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ownership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4932" y="165049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13432" y="2240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Model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331720" y="28346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exactly who can score, edit, or close a match without ambiguity or conflicts.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950208" y="1325880"/>
            <a:ext cx="1627632" cy="3246120"/>
          </a:xfrm>
          <a:prstGeom prst="roundRect">
            <a:avLst>
              <a:gd name="adj" fmla="val 5618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4535424" y="1554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tournamentmgm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1436" y="165049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59936" y="2240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 Architecture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4078224" y="28346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flexible formats while keeping fixtures and standings logic maintainable.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696712" y="1325880"/>
            <a:ext cx="1627632" cy="3246120"/>
          </a:xfrm>
          <a:prstGeom prst="roundRect">
            <a:avLst>
              <a:gd name="adj" fmla="val 5618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281928" y="1554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wiz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940" y="165049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2240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Design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824728" y="28346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Reconciling messy, human-edited spreadsheets into clean, validated team and player records.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443216" y="1325880"/>
            <a:ext cx="1627632" cy="3246120"/>
          </a:xfrm>
          <a:prstGeom prst="roundRect">
            <a:avLst>
              <a:gd name="adj" fmla="val 5618"/>
            </a:avLst>
          </a:prstGeom>
          <a:solidFill>
            <a:srgbClr val="F4F4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8028432" y="15544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fronten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4444" y="165049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552944" y="2240280"/>
            <a:ext cx="1408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UX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571232" y="28346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live scoring fast and thumb-friendly under real matchday conditions.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Challenges &amp; Learnings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E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assets/knockout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11" y="1578803"/>
            <a:ext cx="243962" cy="2439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842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Knockouts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2951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Bracket-style elimination formats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63824" y="132588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346704" y="14904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assets/nr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5035" y="1578803"/>
            <a:ext cx="243962" cy="2439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46704" y="19842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Run Rate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346704" y="22951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NRR for league standings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870448" y="132588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053328" y="149047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assets/offlin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1659" y="1578803"/>
            <a:ext cx="243962" cy="2439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53328" y="198424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Scoring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053328" y="229514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without a live connection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080" y="32278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assets/pwa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411" y="3316163"/>
            <a:ext cx="243962" cy="2439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721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40325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Installable, app-like experience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163824" y="306324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3346704" y="32278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ssets/push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5035" y="3316163"/>
            <a:ext cx="243962" cy="2439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346704" y="3721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346704" y="40325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match &amp; wicket alerts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870448" y="3063240"/>
            <a:ext cx="2542032" cy="1572768"/>
          </a:xfrm>
          <a:prstGeom prst="roundRect">
            <a:avLst>
              <a:gd name="adj" fmla="val 5814"/>
            </a:avLst>
          </a:prstGeom>
          <a:solidFill>
            <a:srgbClr val="F4F4FA"/>
          </a:solidFill>
          <a:ln/>
          <a:effectLst>
            <a:outerShdw blurRad="114300" dist="38100" dir="5400000" algn="bl" rotWithShape="0">
              <a:srgbClr val="1E1B4B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6053328" y="3227832"/>
            <a:ext cx="420624" cy="420624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assets/advanalytics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41659" y="3316163"/>
            <a:ext cx="243962" cy="2439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053328" y="3721608"/>
            <a:ext cx="2176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053328" y="403250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B5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performance &amp; trend insights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Future Roadmap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6A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0" y="7772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livescor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0258" y="92125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00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C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B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CricVelo  |  Thank You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8229600" y="486460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9A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C337FD3-70F2-CAEC-500F-8664C5325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77724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1842</Words>
  <Application>Microsoft Office PowerPoint</Application>
  <PresentationFormat>On-screen Show (16:9)</PresentationFormat>
  <Paragraphs>301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CricVelo - Smart Cricket Scoring &amp; Tournament Management Platform</dc:title>
  <dc:subject>PptxGenJS Presentation</dc:subject>
  <dc:creator>Cognine</dc:creator>
  <cp:lastModifiedBy>Vamsi Ayiluri</cp:lastModifiedBy>
  <cp:revision>2</cp:revision>
  <dcterms:created xsi:type="dcterms:W3CDTF">2026-06-21T10:48:32Z</dcterms:created>
  <dcterms:modified xsi:type="dcterms:W3CDTF">2026-06-21T11:08:31Z</dcterms:modified>
</cp:coreProperties>
</file>